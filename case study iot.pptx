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8"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494"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598524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335268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814522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287B57-76D4-4A15-B44A-CDC1FC49B73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455813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287B57-76D4-4A15-B44A-CDC1FC49B734}" type="datetimeFigureOut">
              <a:rPr lang="en-IN" smtClean="0"/>
              <a:t>12-07-2026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320422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287B57-76D4-4A15-B44A-CDC1FC49B734}"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15011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287B57-76D4-4A15-B44A-CDC1FC49B734}" type="datetimeFigureOut">
              <a:rPr lang="en-IN" smtClean="0"/>
              <a:t>12-07-2026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905610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87B57-76D4-4A15-B44A-CDC1FC49B73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420654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87B57-76D4-4A15-B44A-CDC1FC49B73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110468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87B57-76D4-4A15-B44A-CDC1FC49B73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1113874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898228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3335460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43885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287B57-76D4-4A15-B44A-CDC1FC49B734}" type="datetimeFigureOut">
              <a:rPr lang="en-IN" smtClean="0"/>
              <a:t>12-07-2026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771114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287B57-76D4-4A15-B44A-CDC1FC49B734}" type="datetimeFigureOut">
              <a:rPr lang="en-IN" smtClean="0"/>
              <a:t>12-07-2026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4220636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2064700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7287B57-76D4-4A15-B44A-CDC1FC49B73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403B635-D68A-4BCB-8096-E70B50F967F5}" type="slidenum">
              <a:rPr lang="en-IN" smtClean="0"/>
              <a:t>‹#›</a:t>
            </a:fld>
            <a:endParaRPr lang="en-IN"/>
          </a:p>
        </p:txBody>
      </p:sp>
    </p:spTree>
    <p:extLst>
      <p:ext uri="{BB962C8B-B14F-4D97-AF65-F5344CB8AC3E}">
        <p14:creationId xmlns:p14="http://schemas.microsoft.com/office/powerpoint/2010/main" val="93984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7287B57-76D4-4A15-B44A-CDC1FC49B734}" type="datetimeFigureOut">
              <a:rPr lang="en-IN" smtClean="0"/>
              <a:t>12-07-2026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403B635-D68A-4BCB-8096-E70B50F967F5}" type="slidenum">
              <a:rPr lang="en-IN" smtClean="0"/>
              <a:t>‹#›</a:t>
            </a:fld>
            <a:endParaRPr lang="en-IN"/>
          </a:p>
        </p:txBody>
      </p:sp>
    </p:spTree>
    <p:extLst>
      <p:ext uri="{BB962C8B-B14F-4D97-AF65-F5344CB8AC3E}">
        <p14:creationId xmlns:p14="http://schemas.microsoft.com/office/powerpoint/2010/main" val="238410908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53DE6-D729-6B99-446B-07D44E8E1C0A}"/>
              </a:ext>
            </a:extLst>
          </p:cNvPr>
          <p:cNvSpPr>
            <a:spLocks noGrp="1"/>
          </p:cNvSpPr>
          <p:nvPr>
            <p:ph type="title"/>
          </p:nvPr>
        </p:nvSpPr>
        <p:spPr>
          <a:xfrm>
            <a:off x="728870" y="365125"/>
            <a:ext cx="10515600" cy="1325563"/>
          </a:xfrm>
        </p:spPr>
        <p:txBody>
          <a:bodyPr>
            <a:normAutofit/>
          </a:bodyPr>
          <a:lstStyle/>
          <a:p>
            <a:pPr algn="ctr"/>
            <a:r>
              <a:rPr lang="en-IN" sz="6000" b="1" u="sng" dirty="0">
                <a:latin typeface="Times New Roman" panose="02020603050405020304" pitchFamily="18" charset="0"/>
                <a:cs typeface="Times New Roman" panose="02020603050405020304" pitchFamily="18" charset="0"/>
              </a:rPr>
              <a:t>CASE STUDY</a:t>
            </a:r>
          </a:p>
        </p:txBody>
      </p:sp>
      <p:sp>
        <p:nvSpPr>
          <p:cNvPr id="3" name="Content Placeholder 2">
            <a:extLst>
              <a:ext uri="{FF2B5EF4-FFF2-40B4-BE49-F238E27FC236}">
                <a16:creationId xmlns:a16="http://schemas.microsoft.com/office/drawing/2014/main" id="{A3D2FFC4-0845-F2E6-B707-3504AA0D55DF}"/>
              </a:ext>
            </a:extLst>
          </p:cNvPr>
          <p:cNvSpPr>
            <a:spLocks noGrp="1"/>
          </p:cNvSpPr>
          <p:nvPr>
            <p:ph idx="1"/>
          </p:nvPr>
        </p:nvSpPr>
        <p:spPr/>
        <p:txBody>
          <a:bodyPr>
            <a:normAutofit/>
          </a:bodyPr>
          <a:lstStyle/>
          <a:p>
            <a:pPr marL="0" indent="0" algn="ctr">
              <a:buNone/>
            </a:pPr>
            <a:r>
              <a:rPr lang="en-IN" sz="4000" dirty="0">
                <a:latin typeface="Times New Roman" panose="02020603050405020304" pitchFamily="18" charset="0"/>
                <a:cs typeface="Times New Roman" panose="02020603050405020304" pitchFamily="18" charset="0"/>
              </a:rPr>
              <a:t>IOT AND ARTIFICIAL           INTELLIGENCE INTEGRATION</a:t>
            </a:r>
          </a:p>
        </p:txBody>
      </p:sp>
    </p:spTree>
    <p:extLst>
      <p:ext uri="{BB962C8B-B14F-4D97-AF65-F5344CB8AC3E}">
        <p14:creationId xmlns:p14="http://schemas.microsoft.com/office/powerpoint/2010/main" val="149384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903CD-4E72-70B1-42A9-8961B81E7BDA}"/>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A93C3BC7-7F30-EA7B-8696-48A653B96475}"/>
              </a:ext>
            </a:extLst>
          </p:cNvPr>
          <p:cNvSpPr>
            <a:spLocks noGrp="1"/>
          </p:cNvSpPr>
          <p:nvPr>
            <p:ph idx="1"/>
          </p:nvPr>
        </p:nvSpPr>
        <p:spPr>
          <a:xfrm>
            <a:off x="1154954" y="2603500"/>
            <a:ext cx="8825659" cy="4254500"/>
          </a:xfrm>
        </p:spPr>
        <p:txBody>
          <a:bodyPr>
            <a:noAutofit/>
          </a:bodyPr>
          <a:lstStyle/>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ARTIFICIAL INTELLIGENCE</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INTEGRATION OF IOT AND AI</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REAL LIFE CASE STUDY</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APPLICATIONS, CHALLENGES, AND FUTURE SCOPE</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2312291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91C10-3360-6A4C-DBFF-D07A0158DE0A}"/>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A1C63D93-91B7-AB25-FEAB-F120FA90197F}"/>
              </a:ext>
            </a:extLst>
          </p:cNvPr>
          <p:cNvSpPr>
            <a:spLocks noGrp="1"/>
          </p:cNvSpPr>
          <p:nvPr>
            <p:ph idx="1"/>
          </p:nvPr>
        </p:nvSpPr>
        <p:spPr>
          <a:xfrm>
            <a:off x="1" y="2603500"/>
            <a:ext cx="6768548" cy="3416300"/>
          </a:xfrm>
        </p:spPr>
        <p:txBody>
          <a:bodyPr>
            <a:normAutofit/>
          </a:bodyPr>
          <a:lstStyle/>
          <a:p>
            <a:r>
              <a:rPr lang="en-IN" sz="2400" dirty="0">
                <a:latin typeface="Times New Roman" panose="02020603050405020304" pitchFamily="18" charset="0"/>
                <a:cs typeface="Times New Roman" panose="02020603050405020304" pitchFamily="18" charset="0"/>
              </a:rPr>
              <a:t>The Internet of Things (IoT) is a network of physical objects embedded with sensors, software, and connectivity technologies. It allows these devices to collect, exchange, and act on data autonomously via the internet, eliminating the need for constant human intervention to achieve unprecedented efficiency and automation</a:t>
            </a:r>
          </a:p>
        </p:txBody>
      </p:sp>
      <p:pic>
        <p:nvPicPr>
          <p:cNvPr id="5" name="Picture 4">
            <a:extLst>
              <a:ext uri="{FF2B5EF4-FFF2-40B4-BE49-F238E27FC236}">
                <a16:creationId xmlns:a16="http://schemas.microsoft.com/office/drawing/2014/main" id="{43067ABE-5B70-233F-D78A-F910DFA2F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6426" y="2603500"/>
            <a:ext cx="5111589" cy="3416300"/>
          </a:xfrm>
          <a:prstGeom prst="rect">
            <a:avLst/>
          </a:prstGeom>
        </p:spPr>
      </p:pic>
    </p:spTree>
    <p:extLst>
      <p:ext uri="{BB962C8B-B14F-4D97-AF65-F5344CB8AC3E}">
        <p14:creationId xmlns:p14="http://schemas.microsoft.com/office/powerpoint/2010/main" val="2689190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F1E9-CBD6-15CB-7513-A9C8897766BA}"/>
              </a:ext>
            </a:extLst>
          </p:cNvPr>
          <p:cNvSpPr>
            <a:spLocks noGrp="1"/>
          </p:cNvSpPr>
          <p:nvPr>
            <p:ph type="title"/>
          </p:nvPr>
        </p:nvSpPr>
        <p:spPr/>
        <p:txBody>
          <a:bodyPr/>
          <a:lstStyle/>
          <a:p>
            <a:r>
              <a:rPr lang="en-IN" sz="4400" dirty="0">
                <a:latin typeface="Times New Roman" panose="02020603050405020304" pitchFamily="18" charset="0"/>
                <a:cs typeface="Times New Roman" panose="02020603050405020304" pitchFamily="18" charset="0"/>
              </a:rPr>
              <a:t>ABSTRACT :</a:t>
            </a:r>
          </a:p>
        </p:txBody>
      </p:sp>
      <p:sp>
        <p:nvSpPr>
          <p:cNvPr id="3" name="Content Placeholder 2">
            <a:extLst>
              <a:ext uri="{FF2B5EF4-FFF2-40B4-BE49-F238E27FC236}">
                <a16:creationId xmlns:a16="http://schemas.microsoft.com/office/drawing/2014/main" id="{B3FA0C77-8807-FF88-C26B-817C19F4A714}"/>
              </a:ext>
            </a:extLst>
          </p:cNvPr>
          <p:cNvSpPr>
            <a:spLocks noGrp="1"/>
          </p:cNvSpPr>
          <p:nvPr>
            <p:ph idx="1"/>
          </p:nvPr>
        </p:nvSpPr>
        <p:spPr>
          <a:xfrm>
            <a:off x="0" y="2603500"/>
            <a:ext cx="12192000" cy="4254500"/>
          </a:xfrm>
        </p:spPr>
        <p:txBody>
          <a:bodyPr>
            <a:normAutofit/>
          </a:bodyPr>
          <a:lstStyle/>
          <a:p>
            <a:r>
              <a:rPr lang="en-IN" sz="2800" dirty="0">
                <a:latin typeface="Times New Roman" panose="02020603050405020304" pitchFamily="18" charset="0"/>
                <a:cs typeface="Times New Roman" panose="02020603050405020304" pitchFamily="18" charset="0"/>
              </a:rPr>
              <a:t>The Internet of Things (IoT) connects physical devices to the internet, enabling them to collect and exchange data. Artificial Intelligence (AI) allows computers to analyse this data, learn patterns, and make intelligent decisions. The integration of IoT and AI, known as </a:t>
            </a:r>
            <a:r>
              <a:rPr lang="en-IN" sz="2800" dirty="0" err="1">
                <a:latin typeface="Times New Roman" panose="02020603050405020304" pitchFamily="18" charset="0"/>
                <a:cs typeface="Times New Roman" panose="02020603050405020304" pitchFamily="18" charset="0"/>
              </a:rPr>
              <a:t>AIoT</a:t>
            </a:r>
            <a:r>
              <a:rPr lang="en-IN" sz="2800" dirty="0">
                <a:latin typeface="Times New Roman" panose="02020603050405020304" pitchFamily="18" charset="0"/>
                <a:cs typeface="Times New Roman" panose="02020603050405020304" pitchFamily="18" charset="0"/>
              </a:rPr>
              <a:t> (Artificial Intelligence of Things), creates smart systems capable of automation, prediction, and real-time decision-making. </a:t>
            </a:r>
            <a:r>
              <a:rPr lang="en-IN" sz="2800" dirty="0" err="1">
                <a:latin typeface="Times New Roman" panose="02020603050405020304" pitchFamily="18" charset="0"/>
                <a:cs typeface="Times New Roman" panose="02020603050405020304" pitchFamily="18" charset="0"/>
              </a:rPr>
              <a:t>AIoT</a:t>
            </a:r>
            <a:r>
              <a:rPr lang="en-IN" sz="2800" dirty="0">
                <a:latin typeface="Times New Roman" panose="02020603050405020304" pitchFamily="18" charset="0"/>
                <a:cs typeface="Times New Roman" panose="02020603050405020304" pitchFamily="18" charset="0"/>
              </a:rPr>
              <a:t> is widely used in healthcare, agriculture, smart homes, industries, and transportation.</a:t>
            </a:r>
          </a:p>
        </p:txBody>
      </p:sp>
    </p:spTree>
    <p:extLst>
      <p:ext uri="{BB962C8B-B14F-4D97-AF65-F5344CB8AC3E}">
        <p14:creationId xmlns:p14="http://schemas.microsoft.com/office/powerpoint/2010/main" val="122576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31521-23EA-0CFA-9EEE-31D9969130F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ARTIFICIAL INTELLIGENCE :</a:t>
            </a:r>
          </a:p>
        </p:txBody>
      </p:sp>
      <p:sp>
        <p:nvSpPr>
          <p:cNvPr id="3" name="Content Placeholder 2">
            <a:extLst>
              <a:ext uri="{FF2B5EF4-FFF2-40B4-BE49-F238E27FC236}">
                <a16:creationId xmlns:a16="http://schemas.microsoft.com/office/drawing/2014/main" id="{7071CFF9-1365-5E14-52EB-683AD7EB848F}"/>
              </a:ext>
            </a:extLst>
          </p:cNvPr>
          <p:cNvSpPr>
            <a:spLocks noGrp="1"/>
          </p:cNvSpPr>
          <p:nvPr>
            <p:ph idx="1"/>
          </p:nvPr>
        </p:nvSpPr>
        <p:spPr/>
        <p:txBody>
          <a:bodyPr>
            <a:normAutofit lnSpcReduction="10000"/>
          </a:bodyPr>
          <a:lstStyle/>
          <a:p>
            <a:r>
              <a:rPr lang="en-IN" sz="2400" dirty="0">
                <a:latin typeface="Times New Roman" panose="02020603050405020304" pitchFamily="18" charset="0"/>
                <a:cs typeface="Times New Roman" panose="02020603050405020304" pitchFamily="18" charset="0"/>
              </a:rPr>
              <a:t>Artificial Intelligence is a branch of computer science that enables machines to perform tasks that normally require human intelligence.</a:t>
            </a:r>
          </a:p>
          <a:p>
            <a:pPr marL="0" indent="0" algn="ctr">
              <a:buNone/>
            </a:pPr>
            <a:r>
              <a:rPr lang="en-IN" sz="2400" b="1" dirty="0">
                <a:latin typeface="Times New Roman" panose="02020603050405020304" pitchFamily="18" charset="0"/>
                <a:cs typeface="Times New Roman" panose="02020603050405020304" pitchFamily="18" charset="0"/>
              </a:rPr>
              <a:t>AI Techniques</a:t>
            </a:r>
          </a:p>
          <a:p>
            <a:r>
              <a:rPr lang="en-IN" sz="2400" dirty="0">
                <a:latin typeface="Times New Roman" panose="02020603050405020304" pitchFamily="18" charset="0"/>
                <a:cs typeface="Times New Roman" panose="02020603050405020304" pitchFamily="18" charset="0"/>
              </a:rPr>
              <a:t>Machine Learning </a:t>
            </a:r>
          </a:p>
          <a:p>
            <a:r>
              <a:rPr lang="en-IN" sz="2400" dirty="0">
                <a:latin typeface="Times New Roman" panose="02020603050405020304" pitchFamily="18" charset="0"/>
                <a:cs typeface="Times New Roman" panose="02020603050405020304" pitchFamily="18" charset="0"/>
              </a:rPr>
              <a:t>Deep Learning </a:t>
            </a:r>
          </a:p>
          <a:p>
            <a:r>
              <a:rPr lang="en-IN" sz="2400" dirty="0">
                <a:latin typeface="Times New Roman" panose="02020603050405020304" pitchFamily="18" charset="0"/>
                <a:cs typeface="Times New Roman" panose="02020603050405020304" pitchFamily="18" charset="0"/>
              </a:rPr>
              <a:t>Computer Vision </a:t>
            </a:r>
          </a:p>
          <a:p>
            <a:r>
              <a:rPr lang="en-IN" sz="2400" dirty="0">
                <a:latin typeface="Times New Roman" panose="02020603050405020304" pitchFamily="18" charset="0"/>
                <a:cs typeface="Times New Roman" panose="02020603050405020304" pitchFamily="18" charset="0"/>
              </a:rPr>
              <a:t>Natural Language Processing </a:t>
            </a:r>
          </a:p>
          <a:p>
            <a:endParaRPr lang="en-IN" dirty="0"/>
          </a:p>
        </p:txBody>
      </p:sp>
    </p:spTree>
    <p:extLst>
      <p:ext uri="{BB962C8B-B14F-4D97-AF65-F5344CB8AC3E}">
        <p14:creationId xmlns:p14="http://schemas.microsoft.com/office/powerpoint/2010/main" val="1711879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403A-0CD1-D094-F4E3-5D5A71820818}"/>
              </a:ext>
            </a:extLst>
          </p:cNvPr>
          <p:cNvSpPr>
            <a:spLocks noGrp="1"/>
          </p:cNvSpPr>
          <p:nvPr>
            <p:ph type="title"/>
          </p:nvPr>
        </p:nvSpPr>
        <p:spPr/>
        <p:txBody>
          <a:bodyPr/>
          <a:lstStyle/>
          <a:p>
            <a:r>
              <a:rPr lang="en-IN" dirty="0"/>
              <a:t>INTERGRATION OF IOT AND AI:</a:t>
            </a:r>
          </a:p>
        </p:txBody>
      </p:sp>
      <p:sp>
        <p:nvSpPr>
          <p:cNvPr id="3" name="Content Placeholder 2">
            <a:extLst>
              <a:ext uri="{FF2B5EF4-FFF2-40B4-BE49-F238E27FC236}">
                <a16:creationId xmlns:a16="http://schemas.microsoft.com/office/drawing/2014/main" id="{EEA92839-AE2D-7992-E881-A29E58903213}"/>
              </a:ext>
            </a:extLst>
          </p:cNvPr>
          <p:cNvSpPr>
            <a:spLocks noGrp="1"/>
          </p:cNvSpPr>
          <p:nvPr>
            <p:ph idx="1"/>
          </p:nvPr>
        </p:nvSpPr>
        <p:spPr>
          <a:xfrm>
            <a:off x="0" y="2633318"/>
            <a:ext cx="8825659" cy="3416300"/>
          </a:xfrm>
        </p:spPr>
        <p:txBody>
          <a:bodyPr>
            <a:normAutofit fontScale="92500" lnSpcReduction="10000"/>
          </a:bodyPr>
          <a:lstStyle/>
          <a:p>
            <a:pPr marL="0" indent="0" algn="ctr">
              <a:buNone/>
            </a:pPr>
            <a:r>
              <a:rPr lang="en-IN" sz="2800" b="1" dirty="0">
                <a:latin typeface="Times New Roman" panose="02020603050405020304" pitchFamily="18" charset="0"/>
                <a:cs typeface="Times New Roman" panose="02020603050405020304" pitchFamily="18" charset="0"/>
              </a:rPr>
              <a:t>Working Principle</a:t>
            </a:r>
          </a:p>
          <a:p>
            <a:r>
              <a:rPr lang="en-IN" sz="2800" dirty="0">
                <a:latin typeface="Times New Roman" panose="02020603050405020304" pitchFamily="18" charset="0"/>
                <a:cs typeface="Times New Roman" panose="02020603050405020304" pitchFamily="18" charset="0"/>
              </a:rPr>
              <a:t>Sensors collect data. </a:t>
            </a:r>
          </a:p>
          <a:p>
            <a:r>
              <a:rPr lang="en-IN" sz="2800" dirty="0">
                <a:latin typeface="Times New Roman" panose="02020603050405020304" pitchFamily="18" charset="0"/>
                <a:cs typeface="Times New Roman" panose="02020603050405020304" pitchFamily="18" charset="0"/>
              </a:rPr>
              <a:t>IoT devices transmit data through the internet. </a:t>
            </a:r>
          </a:p>
          <a:p>
            <a:r>
              <a:rPr lang="en-IN" sz="2800" dirty="0">
                <a:latin typeface="Times New Roman" panose="02020603050405020304" pitchFamily="18" charset="0"/>
                <a:cs typeface="Times New Roman" panose="02020603050405020304" pitchFamily="18" charset="0"/>
              </a:rPr>
              <a:t>Cloud or edge computing stores the data. </a:t>
            </a:r>
          </a:p>
          <a:p>
            <a:r>
              <a:rPr lang="en-IN" sz="2800" dirty="0">
                <a:latin typeface="Times New Roman" panose="02020603050405020304" pitchFamily="18" charset="0"/>
                <a:cs typeface="Times New Roman" panose="02020603050405020304" pitchFamily="18" charset="0"/>
              </a:rPr>
              <a:t>AI algorithms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collected information. </a:t>
            </a:r>
          </a:p>
          <a:p>
            <a:r>
              <a:rPr lang="en-IN" sz="2800" dirty="0">
                <a:latin typeface="Times New Roman" panose="02020603050405020304" pitchFamily="18" charset="0"/>
                <a:cs typeface="Times New Roman" panose="02020603050405020304" pitchFamily="18" charset="0"/>
              </a:rPr>
              <a:t>Intelligent decisions are made automatically. </a:t>
            </a:r>
          </a:p>
          <a:p>
            <a:r>
              <a:rPr lang="en-IN" sz="2800" dirty="0">
                <a:latin typeface="Times New Roman" panose="02020603050405020304" pitchFamily="18" charset="0"/>
                <a:cs typeface="Times New Roman" panose="02020603050405020304" pitchFamily="18" charset="0"/>
              </a:rPr>
              <a:t>Commands are sent back to devices.</a:t>
            </a:r>
          </a:p>
          <a:p>
            <a:pPr marL="0" indent="0">
              <a:buNone/>
            </a:pPr>
            <a:endParaRPr lang="en-IN" dirty="0"/>
          </a:p>
        </p:txBody>
      </p:sp>
      <p:pic>
        <p:nvPicPr>
          <p:cNvPr id="5" name="Picture 4">
            <a:extLst>
              <a:ext uri="{FF2B5EF4-FFF2-40B4-BE49-F238E27FC236}">
                <a16:creationId xmlns:a16="http://schemas.microsoft.com/office/drawing/2014/main" id="{6282B1C0-3C41-6F5C-2D9A-FFD8ECC194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5009" y="2581095"/>
            <a:ext cx="5182049" cy="3520745"/>
          </a:xfrm>
          <a:prstGeom prst="rect">
            <a:avLst/>
          </a:prstGeom>
        </p:spPr>
      </p:pic>
    </p:spTree>
    <p:extLst>
      <p:ext uri="{BB962C8B-B14F-4D97-AF65-F5344CB8AC3E}">
        <p14:creationId xmlns:p14="http://schemas.microsoft.com/office/powerpoint/2010/main" val="32555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DF8452-0DA4-7377-7678-26690AE7BDEB}"/>
              </a:ext>
            </a:extLst>
          </p:cNvPr>
          <p:cNvSpPr>
            <a:spLocks noGrp="1"/>
          </p:cNvSpPr>
          <p:nvPr>
            <p:ph idx="1"/>
          </p:nvPr>
        </p:nvSpPr>
        <p:spPr>
          <a:xfrm>
            <a:off x="0" y="2265568"/>
            <a:ext cx="12871048" cy="5338999"/>
          </a:xfrm>
        </p:spPr>
        <p:txBody>
          <a:bodyPr>
            <a:normAutofit/>
          </a:bodyPr>
          <a:lstStyle/>
          <a:p>
            <a:pPr marL="0" indent="0">
              <a:buNone/>
            </a:pPr>
            <a:r>
              <a:rPr lang="en-IN" sz="3200" b="1" dirty="0">
                <a:latin typeface="Times New Roman" panose="02020603050405020304" pitchFamily="18" charset="0"/>
                <a:cs typeface="Times New Roman" panose="02020603050405020304" pitchFamily="18" charset="0"/>
              </a:rPr>
              <a:t>                                      Smart Agriculture using </a:t>
            </a:r>
            <a:r>
              <a:rPr lang="en-IN" sz="3200" b="1" dirty="0" err="1">
                <a:latin typeface="Times New Roman" panose="02020603050405020304" pitchFamily="18" charset="0"/>
                <a:cs typeface="Times New Roman" panose="02020603050405020304" pitchFamily="18" charset="0"/>
              </a:rPr>
              <a:t>AIoT</a:t>
            </a:r>
            <a:endParaRPr lang="en-IN" sz="32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  </a:t>
            </a:r>
            <a:r>
              <a:rPr lang="en-IN" sz="2400" b="1" u="sng" dirty="0">
                <a:solidFill>
                  <a:schemeClr val="tx1"/>
                </a:solidFill>
                <a:latin typeface="Times New Roman" panose="02020603050405020304" pitchFamily="18" charset="0"/>
                <a:cs typeface="Times New Roman" panose="02020603050405020304" pitchFamily="18" charset="0"/>
              </a:rPr>
              <a:t>Problem:</a:t>
            </a:r>
          </a:p>
          <a:p>
            <a:r>
              <a:rPr lang="en-IN" sz="2400" dirty="0">
                <a:latin typeface="Times New Roman" panose="02020603050405020304" pitchFamily="18" charset="0"/>
                <a:cs typeface="Times New Roman" panose="02020603050405020304" pitchFamily="18" charset="0"/>
              </a:rPr>
              <a:t>Farmers often waste water and fertilizers due to lack of continuous monitoring.</a:t>
            </a:r>
          </a:p>
          <a:p>
            <a:pPr marL="0" indent="0">
              <a:buNone/>
            </a:pPr>
            <a:r>
              <a:rPr lang="en-IN" sz="2400" b="1"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Solution:</a:t>
            </a:r>
          </a:p>
          <a:p>
            <a:r>
              <a:rPr lang="en-IN" sz="2400" dirty="0">
                <a:latin typeface="Times New Roman" panose="02020603050405020304" pitchFamily="18" charset="0"/>
                <a:cs typeface="Times New Roman" panose="02020603050405020304" pitchFamily="18" charset="0"/>
              </a:rPr>
              <a:t>An AI-enabled IoT system monitors:</a:t>
            </a:r>
          </a:p>
          <a:p>
            <a:r>
              <a:rPr lang="en-IN" sz="2400" dirty="0">
                <a:latin typeface="Times New Roman" panose="02020603050405020304" pitchFamily="18" charset="0"/>
                <a:cs typeface="Times New Roman" panose="02020603050405020304" pitchFamily="18" charset="0"/>
              </a:rPr>
              <a:t>Soil moisture </a:t>
            </a:r>
          </a:p>
          <a:p>
            <a:r>
              <a:rPr lang="en-IN" sz="2400" dirty="0">
                <a:latin typeface="Times New Roman" panose="02020603050405020304" pitchFamily="18" charset="0"/>
                <a:cs typeface="Times New Roman" panose="02020603050405020304" pitchFamily="18" charset="0"/>
              </a:rPr>
              <a:t>Temperature </a:t>
            </a:r>
          </a:p>
          <a:p>
            <a:r>
              <a:rPr lang="en-IN" sz="2400" dirty="0">
                <a:latin typeface="Times New Roman" panose="02020603050405020304" pitchFamily="18" charset="0"/>
                <a:cs typeface="Times New Roman" panose="02020603050405020304" pitchFamily="18" charset="0"/>
              </a:rPr>
              <a:t>Humidity </a:t>
            </a:r>
          </a:p>
          <a:p>
            <a:r>
              <a:rPr lang="en-IN" sz="2400" dirty="0">
                <a:latin typeface="Times New Roman" panose="02020603050405020304" pitchFamily="18" charset="0"/>
                <a:cs typeface="Times New Roman" panose="02020603050405020304" pitchFamily="18" charset="0"/>
              </a:rPr>
              <a:t>AI predicts irrigation needs and automatically switches water pumps ON or OFF.</a:t>
            </a:r>
          </a:p>
        </p:txBody>
      </p:sp>
      <p:sp>
        <p:nvSpPr>
          <p:cNvPr id="5" name="Title 4">
            <a:extLst>
              <a:ext uri="{FF2B5EF4-FFF2-40B4-BE49-F238E27FC236}">
                <a16:creationId xmlns:a16="http://schemas.microsoft.com/office/drawing/2014/main" id="{2D2AA34C-FAC4-2FC7-3591-B98C894BA25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REAL LIFE CASE STUDY :</a:t>
            </a:r>
          </a:p>
        </p:txBody>
      </p:sp>
    </p:spTree>
    <p:extLst>
      <p:ext uri="{BB962C8B-B14F-4D97-AF65-F5344CB8AC3E}">
        <p14:creationId xmlns:p14="http://schemas.microsoft.com/office/powerpoint/2010/main" val="82661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FFCF6-FADA-E3DF-E0FB-E025F32BBFAC}"/>
              </a:ext>
            </a:extLst>
          </p:cNvPr>
          <p:cNvSpPr>
            <a:spLocks noGrp="1"/>
          </p:cNvSpPr>
          <p:nvPr>
            <p:ph type="title"/>
          </p:nvPr>
        </p:nvSpPr>
        <p:spPr/>
        <p:txBody>
          <a:bodyPr/>
          <a:lstStyle/>
          <a:p>
            <a:r>
              <a:rPr lang="en-IN" dirty="0"/>
              <a:t>APPICATIONS:</a:t>
            </a:r>
          </a:p>
        </p:txBody>
      </p:sp>
      <p:sp>
        <p:nvSpPr>
          <p:cNvPr id="5" name="Text Placeholder 4">
            <a:extLst>
              <a:ext uri="{FF2B5EF4-FFF2-40B4-BE49-F238E27FC236}">
                <a16:creationId xmlns:a16="http://schemas.microsoft.com/office/drawing/2014/main" id="{38CDEE7D-4256-C7F7-3B14-31427431C78A}"/>
              </a:ext>
            </a:extLst>
          </p:cNvPr>
          <p:cNvSpPr>
            <a:spLocks noGrp="1"/>
          </p:cNvSpPr>
          <p:nvPr>
            <p:ph type="body" idx="1"/>
          </p:nvPr>
        </p:nvSpPr>
        <p:spPr>
          <a:xfrm>
            <a:off x="1268076" y="2625846"/>
            <a:ext cx="3141878" cy="576262"/>
          </a:xfrm>
        </p:spPr>
        <p:txBody>
          <a:bodyPr/>
          <a:lstStyle/>
          <a:p>
            <a:r>
              <a:rPr lang="en-IN" dirty="0"/>
              <a:t>APPICATIONS:</a:t>
            </a:r>
          </a:p>
        </p:txBody>
      </p:sp>
      <p:sp>
        <p:nvSpPr>
          <p:cNvPr id="8" name="Text Placeholder 7">
            <a:extLst>
              <a:ext uri="{FF2B5EF4-FFF2-40B4-BE49-F238E27FC236}">
                <a16:creationId xmlns:a16="http://schemas.microsoft.com/office/drawing/2014/main" id="{CD1F81C4-9D8A-2994-40AA-6ECAE4131E4E}"/>
              </a:ext>
            </a:extLst>
          </p:cNvPr>
          <p:cNvSpPr>
            <a:spLocks noGrp="1"/>
          </p:cNvSpPr>
          <p:nvPr>
            <p:ph type="body" sz="half" idx="15"/>
          </p:nvPr>
        </p:nvSpPr>
        <p:spPr>
          <a:xfrm>
            <a:off x="901757" y="3202108"/>
            <a:ext cx="3393897" cy="3655892"/>
          </a:xfrm>
        </p:spPr>
        <p:txBody>
          <a:bodyPr>
            <a:normAutofit/>
          </a:bodyPr>
          <a:lstStyle/>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Smart Homes</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Healthcare</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Smart Cities</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Manufacturing</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Agriculture</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Transportation</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Energy Management</a:t>
            </a:r>
          </a:p>
        </p:txBody>
      </p:sp>
      <p:sp>
        <p:nvSpPr>
          <p:cNvPr id="6" name="Text Placeholder 5">
            <a:extLst>
              <a:ext uri="{FF2B5EF4-FFF2-40B4-BE49-F238E27FC236}">
                <a16:creationId xmlns:a16="http://schemas.microsoft.com/office/drawing/2014/main" id="{365B6354-4F67-1A62-521C-F8EBFEBBD75A}"/>
              </a:ext>
            </a:extLst>
          </p:cNvPr>
          <p:cNvSpPr>
            <a:spLocks noGrp="1"/>
          </p:cNvSpPr>
          <p:nvPr>
            <p:ph type="body" sz="quarter" idx="3"/>
          </p:nvPr>
        </p:nvSpPr>
        <p:spPr/>
        <p:txBody>
          <a:bodyPr/>
          <a:lstStyle/>
          <a:p>
            <a:r>
              <a:rPr lang="en-IN" dirty="0"/>
              <a:t>CHALLENGES :</a:t>
            </a:r>
          </a:p>
        </p:txBody>
      </p:sp>
      <p:sp>
        <p:nvSpPr>
          <p:cNvPr id="9" name="Text Placeholder 8">
            <a:extLst>
              <a:ext uri="{FF2B5EF4-FFF2-40B4-BE49-F238E27FC236}">
                <a16:creationId xmlns:a16="http://schemas.microsoft.com/office/drawing/2014/main" id="{D989B54A-8991-6077-F932-AD05AD7A6767}"/>
              </a:ext>
            </a:extLst>
          </p:cNvPr>
          <p:cNvSpPr>
            <a:spLocks noGrp="1"/>
          </p:cNvSpPr>
          <p:nvPr>
            <p:ph type="body" sz="half" idx="16"/>
          </p:nvPr>
        </p:nvSpPr>
        <p:spPr>
          <a:xfrm>
            <a:off x="4409954" y="3202108"/>
            <a:ext cx="3249775" cy="3678237"/>
          </a:xfrm>
        </p:spPr>
        <p:txBody>
          <a:bodyPr>
            <a:normAutofit/>
          </a:bodyPr>
          <a:lstStyle/>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Data privacy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Cybersecurity threats</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High implementation cost</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Large data storage</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Internet dependency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Device compatibility</a:t>
            </a:r>
          </a:p>
        </p:txBody>
      </p:sp>
      <p:sp>
        <p:nvSpPr>
          <p:cNvPr id="7" name="Text Placeholder 6">
            <a:extLst>
              <a:ext uri="{FF2B5EF4-FFF2-40B4-BE49-F238E27FC236}">
                <a16:creationId xmlns:a16="http://schemas.microsoft.com/office/drawing/2014/main" id="{69D20899-9BFA-1707-C6F9-FC2C9112704C}"/>
              </a:ext>
            </a:extLst>
          </p:cNvPr>
          <p:cNvSpPr>
            <a:spLocks noGrp="1"/>
          </p:cNvSpPr>
          <p:nvPr>
            <p:ph type="body" sz="quarter" idx="13"/>
          </p:nvPr>
        </p:nvSpPr>
        <p:spPr/>
        <p:txBody>
          <a:bodyPr/>
          <a:lstStyle/>
          <a:p>
            <a:r>
              <a:rPr lang="en-IN" dirty="0"/>
              <a:t>FUTURE SCOPE:</a:t>
            </a:r>
          </a:p>
        </p:txBody>
      </p:sp>
      <p:sp>
        <p:nvSpPr>
          <p:cNvPr id="10" name="Text Placeholder 9">
            <a:extLst>
              <a:ext uri="{FF2B5EF4-FFF2-40B4-BE49-F238E27FC236}">
                <a16:creationId xmlns:a16="http://schemas.microsoft.com/office/drawing/2014/main" id="{C9FF75D5-5569-0D69-7EAF-B3984688E59A}"/>
              </a:ext>
            </a:extLst>
          </p:cNvPr>
          <p:cNvSpPr>
            <a:spLocks noGrp="1"/>
          </p:cNvSpPr>
          <p:nvPr>
            <p:ph type="body" sz="half" idx="17"/>
          </p:nvPr>
        </p:nvSpPr>
        <p:spPr>
          <a:xfrm>
            <a:off x="7888329" y="3179762"/>
            <a:ext cx="3145536" cy="3678238"/>
          </a:xfrm>
        </p:spPr>
        <p:txBody>
          <a:bodyPr>
            <a:normAutofit fontScale="92500" lnSpcReduction="10000"/>
          </a:bodyPr>
          <a:lstStyle/>
          <a:p>
            <a:r>
              <a:rPr lang="en-IN" sz="2400" b="1" u="sng" dirty="0">
                <a:latin typeface="Times New Roman" panose="02020603050405020304" pitchFamily="18" charset="0"/>
                <a:cs typeface="Times New Roman" panose="02020603050405020304" pitchFamily="18" charset="0"/>
              </a:rPr>
              <a:t>Future </a:t>
            </a:r>
            <a:r>
              <a:rPr lang="en-IN" sz="2400" b="1" u="sng" dirty="0" err="1">
                <a:latin typeface="Times New Roman" panose="02020603050405020304" pitchFamily="18" charset="0"/>
                <a:cs typeface="Times New Roman" panose="02020603050405020304" pitchFamily="18" charset="0"/>
              </a:rPr>
              <a:t>AIoT</a:t>
            </a:r>
            <a:r>
              <a:rPr lang="en-IN" sz="2400" b="1" u="sng" dirty="0">
                <a:latin typeface="Times New Roman" panose="02020603050405020304" pitchFamily="18" charset="0"/>
                <a:cs typeface="Times New Roman" panose="02020603050405020304" pitchFamily="18" charset="0"/>
              </a:rPr>
              <a:t> systems will use</a:t>
            </a:r>
            <a:r>
              <a:rPr lang="en-IN"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5G communication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Edge AI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Autonomous vehicles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Smart hospitals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Intelligent factories </a:t>
            </a:r>
          </a:p>
          <a:p>
            <a:pPr marL="342900" indent="-3429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Sustainable smart cities</a:t>
            </a:r>
          </a:p>
          <a:p>
            <a:endParaRPr lang="en-IN" dirty="0"/>
          </a:p>
        </p:txBody>
      </p:sp>
    </p:spTree>
    <p:extLst>
      <p:ext uri="{BB962C8B-B14F-4D97-AF65-F5344CB8AC3E}">
        <p14:creationId xmlns:p14="http://schemas.microsoft.com/office/powerpoint/2010/main" val="2129863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EAB8E78-A1B5-CDAE-1132-9E80DE155BE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10" name="Content Placeholder 9">
            <a:extLst>
              <a:ext uri="{FF2B5EF4-FFF2-40B4-BE49-F238E27FC236}">
                <a16:creationId xmlns:a16="http://schemas.microsoft.com/office/drawing/2014/main" id="{2DB89C55-6724-1BFE-2A34-49D430823250}"/>
              </a:ext>
            </a:extLst>
          </p:cNvPr>
          <p:cNvSpPr>
            <a:spLocks noGrp="1"/>
          </p:cNvSpPr>
          <p:nvPr>
            <p:ph idx="1"/>
          </p:nvPr>
        </p:nvSpPr>
        <p:spPr>
          <a:xfrm>
            <a:off x="0" y="2603500"/>
            <a:ext cx="12192000" cy="4254500"/>
          </a:xfrm>
        </p:spPr>
        <p:txBody>
          <a:bodyPr>
            <a:normAutofit/>
          </a:bodyPr>
          <a:lstStyle/>
          <a:p>
            <a:r>
              <a:rPr lang="en-IN" sz="2800" dirty="0">
                <a:latin typeface="Times New Roman" panose="02020603050405020304" pitchFamily="18" charset="0"/>
                <a:cs typeface="Times New Roman" panose="02020603050405020304" pitchFamily="18" charset="0"/>
              </a:rPr>
              <a:t>The integration of Artificial Intelligence and the Internet of Things has transformed connected systems into intelligent systems capable of learning and making decisions automatically. </a:t>
            </a:r>
            <a:r>
              <a:rPr lang="en-IN" sz="2800" dirty="0" err="1">
                <a:latin typeface="Times New Roman" panose="02020603050405020304" pitchFamily="18" charset="0"/>
                <a:cs typeface="Times New Roman" panose="02020603050405020304" pitchFamily="18" charset="0"/>
              </a:rPr>
              <a:t>AIoT</a:t>
            </a:r>
            <a:r>
              <a:rPr lang="en-IN" sz="2800" dirty="0">
                <a:latin typeface="Times New Roman" panose="02020603050405020304" pitchFamily="18" charset="0"/>
                <a:cs typeface="Times New Roman" panose="02020603050405020304" pitchFamily="18" charset="0"/>
              </a:rPr>
              <a:t> improves efficiency, productivity, safety, and sustainability across many industries. As technologies like 5G and edge computing continue to evolve, </a:t>
            </a:r>
            <a:r>
              <a:rPr lang="en-IN" sz="2800" dirty="0" err="1">
                <a:latin typeface="Times New Roman" panose="02020603050405020304" pitchFamily="18" charset="0"/>
                <a:cs typeface="Times New Roman" panose="02020603050405020304" pitchFamily="18" charset="0"/>
              </a:rPr>
              <a:t>AIoT</a:t>
            </a:r>
            <a:r>
              <a:rPr lang="en-IN" sz="2800" dirty="0">
                <a:latin typeface="Times New Roman" panose="02020603050405020304" pitchFamily="18" charset="0"/>
                <a:cs typeface="Times New Roman" panose="02020603050405020304" pitchFamily="18" charset="0"/>
              </a:rPr>
              <a:t> will play a crucial role in developing smarter and more connected societies.</a:t>
            </a:r>
          </a:p>
        </p:txBody>
      </p:sp>
    </p:spTree>
    <p:extLst>
      <p:ext uri="{BB962C8B-B14F-4D97-AF65-F5344CB8AC3E}">
        <p14:creationId xmlns:p14="http://schemas.microsoft.com/office/powerpoint/2010/main" val="42679797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61</TotalTime>
  <Words>436</Words>
  <Application>Microsoft Office PowerPoint</Application>
  <PresentationFormat>Widescreen</PresentationFormat>
  <Paragraphs>64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Ion Boardroom</vt:lpstr>
      <vt:lpstr>CASE STUDY</vt:lpstr>
      <vt:lpstr>AGENDA:</vt:lpstr>
      <vt:lpstr>INTRODUCTION :</vt:lpstr>
      <vt:lpstr>ABSTRACT :</vt:lpstr>
      <vt:lpstr>ARTIFICIAL INTELLIGENCE :</vt:lpstr>
      <vt:lpstr>INTERGRATION OF IOT AND AI:</vt:lpstr>
      <vt:lpstr>REAL LIFE CASE STUDY :</vt:lpstr>
      <vt:lpstr>APPICATIONS: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dc:title>
  <dc:creator>Srinithi Ramesh</dc:creator>
  <cp:lastModifiedBy>Srinithi Ramesh</cp:lastModifiedBy>
  <cp:revision>3</cp:revision>
  <dcterms:created xsi:type="dcterms:W3CDTF">2026-07-12T16:47:48Z</dcterms:created>
  <dcterms:modified xsi:type="dcterms:W3CDTF">2026-07-12T17:55:20Z</dcterms:modified>
</cp:coreProperties>
</file>